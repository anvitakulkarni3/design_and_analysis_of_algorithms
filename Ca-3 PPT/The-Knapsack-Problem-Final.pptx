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embeddedFontLst>
    <p:embeddedFont>
      <p:font typeface="Parkinsans SemiBold" panose="020B0604020202020204" charset="0"/>
      <p:regular r:id="rId13"/>
    </p:embeddedFont>
    <p:embeddedFont>
      <p:font typeface="Reddit Sans" panose="020B0604020202020204" charset="0"/>
      <p:regular r:id="rId14"/>
    </p:embeddedFont>
    <p:embeddedFont>
      <p:font typeface="Reddit Sans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56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B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21" y="932138"/>
            <a:ext cx="5583431" cy="4731864"/>
          </a:xfrm>
          <a:prstGeom prst="roundRect">
            <a:avLst>
              <a:gd name="adj" fmla="val 6114"/>
            </a:avLst>
          </a:prstGeom>
          <a:blipFill>
            <a:blip r:embed="rId3"/>
            <a:tile tx="0" ty="0" sx="100000" sy="100000" flip="none" algn="tl"/>
          </a:blip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797436" y="1481693"/>
            <a:ext cx="4749681" cy="2139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97" dirty="0">
                <a:solidFill>
                  <a:srgbClr val="000000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The Knapsack</a:t>
            </a:r>
            <a:endParaRPr lang="en-US" sz="54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97" dirty="0">
                <a:solidFill>
                  <a:srgbClr val="000000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Problem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97436" y="3630374"/>
            <a:ext cx="474968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Choosing the most valuable items without exceeding a weight limit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7435" y="4635461"/>
            <a:ext cx="4749681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How can we maximize value when our capacity is limited?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54793" y="5080000"/>
            <a:ext cx="2920927" cy="1494830"/>
          </a:xfrm>
          <a:prstGeom prst="roundRect">
            <a:avLst>
              <a:gd name="adj" fmla="val 14273"/>
            </a:avLst>
          </a:prstGeom>
          <a:solidFill>
            <a:srgbClr val="FBEF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8457988" y="5232400"/>
            <a:ext cx="990674" cy="326827"/>
          </a:xfrm>
          <a:prstGeom prst="roundRect">
            <a:avLst>
              <a:gd name="adj" fmla="val 46163"/>
            </a:avLst>
          </a:prstGeom>
          <a:solidFill>
            <a:srgbClr val="E0D5F6"/>
          </a:solidFill>
          <a:ln/>
        </p:spPr>
      </p:sp>
      <p:sp>
        <p:nvSpPr>
          <p:cNvPr id="8" name="Text 6"/>
          <p:cNvSpPr/>
          <p:nvPr/>
        </p:nvSpPr>
        <p:spPr>
          <a:xfrm>
            <a:off x="8583695" y="5300266"/>
            <a:ext cx="1348845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2 kg / ₹12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553435" y="5232400"/>
            <a:ext cx="975395" cy="326827"/>
          </a:xfrm>
          <a:prstGeom prst="roundRect">
            <a:avLst>
              <a:gd name="adj" fmla="val 46163"/>
            </a:avLst>
          </a:prstGeom>
          <a:solidFill>
            <a:srgbClr val="E0D5F6"/>
          </a:solidFill>
          <a:ln/>
        </p:spPr>
      </p:sp>
      <p:sp>
        <p:nvSpPr>
          <p:cNvPr id="10" name="Text 8"/>
          <p:cNvSpPr/>
          <p:nvPr/>
        </p:nvSpPr>
        <p:spPr>
          <a:xfrm>
            <a:off x="9679142" y="5300266"/>
            <a:ext cx="1333566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1 kg / ₹10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57988" y="5664002"/>
            <a:ext cx="1031055" cy="326827"/>
          </a:xfrm>
          <a:prstGeom prst="roundRect">
            <a:avLst>
              <a:gd name="adj" fmla="val 46163"/>
            </a:avLst>
          </a:prstGeom>
          <a:solidFill>
            <a:srgbClr val="E0D5F6"/>
          </a:solidFill>
          <a:ln/>
        </p:spPr>
      </p:sp>
      <p:sp>
        <p:nvSpPr>
          <p:cNvPr id="12" name="Text 10"/>
          <p:cNvSpPr/>
          <p:nvPr/>
        </p:nvSpPr>
        <p:spPr>
          <a:xfrm>
            <a:off x="8583695" y="5731868"/>
            <a:ext cx="1389226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3 kg / ₹20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593816" y="5664002"/>
            <a:ext cx="992560" cy="326827"/>
          </a:xfrm>
          <a:prstGeom prst="roundRect">
            <a:avLst>
              <a:gd name="adj" fmla="val 46163"/>
            </a:avLst>
          </a:prstGeom>
          <a:solidFill>
            <a:srgbClr val="E0D5F6"/>
          </a:solidFill>
          <a:ln/>
        </p:spPr>
      </p:sp>
      <p:sp>
        <p:nvSpPr>
          <p:cNvPr id="14" name="Text 12"/>
          <p:cNvSpPr/>
          <p:nvPr/>
        </p:nvSpPr>
        <p:spPr>
          <a:xfrm>
            <a:off x="9719523" y="5731868"/>
            <a:ext cx="1350730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2 kg / ₹15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57987" y="6095603"/>
            <a:ext cx="1772941" cy="326827"/>
          </a:xfrm>
          <a:prstGeom prst="roundRect">
            <a:avLst>
              <a:gd name="adj" fmla="val 46163"/>
            </a:avLst>
          </a:prstGeom>
          <a:solidFill>
            <a:srgbClr val="E0D5F6"/>
          </a:solidFill>
          <a:ln/>
        </p:spPr>
      </p:sp>
      <p:sp>
        <p:nvSpPr>
          <p:cNvPr id="16" name="Text 14"/>
          <p:cNvSpPr/>
          <p:nvPr/>
        </p:nvSpPr>
        <p:spPr>
          <a:xfrm>
            <a:off x="8583695" y="6163469"/>
            <a:ext cx="939181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Total capacity - 5 kg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8652"/>
            <a:ext cx="4206075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The Problem in Simple Terms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1913136"/>
            <a:ext cx="4206075" cy="774700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152849"/>
            <a:ext cx="374888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Items → Weight + Value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992636"/>
            <a:ext cx="4206075" cy="774700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232349"/>
            <a:ext cx="374888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Knapsack → Limited Capacity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888224"/>
            <a:ext cx="4206075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In 0/1 Knapsack, every item can be selected at most once.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272750" y="852506"/>
            <a:ext cx="972776" cy="34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7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Given: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253700" y="1608425"/>
            <a:ext cx="115190" cy="115193"/>
          </a:xfrm>
          <a:prstGeom prst="ellipse">
            <a:avLst/>
          </a:prstGeom>
          <a:solidFill>
            <a:srgbClr val="8054D9"/>
          </a:solidFill>
          <a:ln/>
        </p:spPr>
      </p:sp>
      <p:sp>
        <p:nvSpPr>
          <p:cNvPr id="10" name="Text 8"/>
          <p:cNvSpPr/>
          <p:nvPr/>
        </p:nvSpPr>
        <p:spPr>
          <a:xfrm>
            <a:off x="5582387" y="1478211"/>
            <a:ext cx="5984626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n items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253700" y="2108869"/>
            <a:ext cx="115190" cy="115193"/>
          </a:xfrm>
          <a:prstGeom prst="ellipse">
            <a:avLst/>
          </a:prstGeom>
          <a:solidFill>
            <a:srgbClr val="8054D9"/>
          </a:solidFill>
          <a:ln/>
        </p:spPr>
      </p:sp>
      <p:sp>
        <p:nvSpPr>
          <p:cNvPr id="12" name="Text 10"/>
          <p:cNvSpPr/>
          <p:nvPr/>
        </p:nvSpPr>
        <p:spPr>
          <a:xfrm>
            <a:off x="5597484" y="2007791"/>
            <a:ext cx="5984626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Each item has a weight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272750" y="2783333"/>
            <a:ext cx="115190" cy="115193"/>
          </a:xfrm>
          <a:prstGeom prst="ellipse">
            <a:avLst/>
          </a:prstGeom>
          <a:solidFill>
            <a:srgbClr val="8054D9"/>
          </a:solidFill>
          <a:ln/>
        </p:spPr>
      </p:sp>
      <p:sp>
        <p:nvSpPr>
          <p:cNvPr id="14" name="Text 12"/>
          <p:cNvSpPr/>
          <p:nvPr/>
        </p:nvSpPr>
        <p:spPr>
          <a:xfrm>
            <a:off x="5597484" y="2698311"/>
            <a:ext cx="5984626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Each item has a value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272749" y="3465514"/>
            <a:ext cx="115190" cy="115193"/>
          </a:xfrm>
          <a:prstGeom prst="ellipse">
            <a:avLst/>
          </a:prstGeom>
          <a:solidFill>
            <a:srgbClr val="8054D9"/>
          </a:solidFill>
          <a:ln/>
        </p:spPr>
      </p:sp>
      <p:sp>
        <p:nvSpPr>
          <p:cNvPr id="16" name="Text 14"/>
          <p:cNvSpPr/>
          <p:nvPr/>
        </p:nvSpPr>
        <p:spPr>
          <a:xfrm>
            <a:off x="5597484" y="3382129"/>
            <a:ext cx="5984626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The knapsack has a maximum capacity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272749" y="3895050"/>
            <a:ext cx="630936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Goal: Select items with maximum total value without exceeding the capacity.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272750" y="4746069"/>
            <a:ext cx="3002284" cy="761008"/>
          </a:xfrm>
          <a:prstGeom prst="rect">
            <a:avLst/>
          </a:prstGeom>
          <a:solidFill>
            <a:srgbClr val="FFB45C"/>
          </a:solidFill>
          <a:ln/>
        </p:spPr>
      </p:sp>
      <p:sp>
        <p:nvSpPr>
          <p:cNvPr id="19" name="Text 17"/>
          <p:cNvSpPr/>
          <p:nvPr/>
        </p:nvSpPr>
        <p:spPr>
          <a:xfrm>
            <a:off x="5501344" y="4974431"/>
            <a:ext cx="2773690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TAKE → 1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589797" y="4745831"/>
            <a:ext cx="3002284" cy="761008"/>
          </a:xfrm>
          <a:prstGeom prst="rect">
            <a:avLst/>
          </a:prstGeom>
          <a:solidFill>
            <a:srgbClr val="35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8818391" y="4963117"/>
            <a:ext cx="2773690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DON'T TAKE → 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5311295" y="1893610"/>
            <a:ext cx="6309361" cy="12700"/>
          </a:xfrm>
          <a:prstGeom prst="rect">
            <a:avLst/>
          </a:prstGeom>
          <a:solidFill>
            <a:srgbClr val="FFB45C"/>
          </a:solidFill>
          <a:ln/>
        </p:spPr>
      </p:sp>
      <p:sp>
        <p:nvSpPr>
          <p:cNvPr id="23" name="Shape 21"/>
          <p:cNvSpPr/>
          <p:nvPr/>
        </p:nvSpPr>
        <p:spPr>
          <a:xfrm>
            <a:off x="5257652" y="2509247"/>
            <a:ext cx="6309361" cy="12700"/>
          </a:xfrm>
          <a:prstGeom prst="rect">
            <a:avLst/>
          </a:prstGeom>
          <a:solidFill>
            <a:srgbClr val="FFB45C"/>
          </a:solidFill>
          <a:ln/>
        </p:spPr>
      </p:sp>
      <p:sp>
        <p:nvSpPr>
          <p:cNvPr id="24" name="Shape 22"/>
          <p:cNvSpPr/>
          <p:nvPr/>
        </p:nvSpPr>
        <p:spPr>
          <a:xfrm>
            <a:off x="5272749" y="3175670"/>
            <a:ext cx="6309361" cy="12700"/>
          </a:xfrm>
          <a:prstGeom prst="rect">
            <a:avLst/>
          </a:prstGeom>
          <a:solidFill>
            <a:srgbClr val="FFB45C"/>
          </a:solidFill>
          <a:ln w="6350"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93822" cy="6858000"/>
          </a:xfrm>
          <a:prstGeom prst="rect">
            <a:avLst/>
          </a:prstGeom>
          <a:solidFill>
            <a:srgbClr val="FBEFE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4" y="228600"/>
            <a:ext cx="4236634" cy="58866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28594" y="6302573"/>
            <a:ext cx="581010" cy="326827"/>
          </a:xfrm>
          <a:prstGeom prst="roundRect">
            <a:avLst>
              <a:gd name="adj" fmla="val 46163"/>
            </a:avLst>
          </a:prstGeom>
          <a:solidFill>
            <a:srgbClr val="E0D5F6"/>
          </a:solidFill>
          <a:ln/>
        </p:spPr>
      </p:sp>
      <p:sp>
        <p:nvSpPr>
          <p:cNvPr id="5" name="Text 2"/>
          <p:cNvSpPr/>
          <p:nvPr/>
        </p:nvSpPr>
        <p:spPr>
          <a:xfrm>
            <a:off x="354301" y="6370440"/>
            <a:ext cx="939181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5 kg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760497" y="648652"/>
            <a:ext cx="5821614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A Real Example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760497" y="1364555"/>
            <a:ext cx="6431198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Knapsack capacity: 5 kg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760497" y="1920419"/>
            <a:ext cx="6431198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Which combination gives the maximum value?</a:t>
            </a:r>
            <a:endParaRPr lang="en-US" sz="16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497" y="2411313"/>
          <a:ext cx="5821614" cy="2407185"/>
        </p:xfrm>
        <a:graphic>
          <a:graphicData uri="http://schemas.openxmlformats.org/drawingml/2006/table">
            <a:tbl>
              <a:tblPr/>
              <a:tblGrid>
                <a:gridCol w="1455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7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8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Item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Weight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Value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2 kg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₹12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 kg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₹10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3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3 kg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₹20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2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4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2 kg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₹15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5414"/>
            <a:ext cx="3596590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41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Why Can't We Just Try Everything?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2214959"/>
            <a:ext cx="4206174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For n items: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585" y="2988834"/>
            <a:ext cx="3596590" cy="5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79" dirty="0">
                <a:solidFill>
                  <a:srgbClr val="8054D9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2ⁿ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09585" y="3726597"/>
            <a:ext cx="4206174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Number of possible combinations = 2ⁿ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09585" y="4217730"/>
            <a:ext cx="3596590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n = 4 → 16 combinations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9585" y="4978737"/>
            <a:ext cx="3596590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n = 10 → 1,024 combinations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585" y="5739745"/>
            <a:ext cx="3596590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n = 20 → 1,048,576 combinations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577641" y="1603276"/>
            <a:ext cx="2925987" cy="2598341"/>
          </a:xfrm>
          <a:prstGeom prst="rect">
            <a:avLst/>
          </a:prstGeom>
          <a:solidFill>
            <a:srgbClr val="FFB45C"/>
          </a:solidFill>
          <a:ln/>
        </p:spPr>
      </p:sp>
      <p:sp>
        <p:nvSpPr>
          <p:cNvPr id="10" name="Text 8"/>
          <p:cNvSpPr/>
          <p:nvPr/>
        </p:nvSpPr>
        <p:spPr>
          <a:xfrm>
            <a:off x="5806235" y="1842988"/>
            <a:ext cx="2468798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TAKE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806235" y="2298601"/>
            <a:ext cx="2468798" cy="761008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12" name="Text 10"/>
          <p:cNvSpPr/>
          <p:nvPr/>
        </p:nvSpPr>
        <p:spPr>
          <a:xfrm>
            <a:off x="6034829" y="2527439"/>
            <a:ext cx="2240204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TAKE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806235" y="3212009"/>
            <a:ext cx="2468798" cy="761008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14" name="Text 12"/>
          <p:cNvSpPr/>
          <p:nvPr/>
        </p:nvSpPr>
        <p:spPr>
          <a:xfrm>
            <a:off x="6034829" y="3440847"/>
            <a:ext cx="2240204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DON'T TAKE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56024" y="1603276"/>
            <a:ext cx="2926086" cy="2598341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16" name="Text 14"/>
          <p:cNvSpPr/>
          <p:nvPr/>
        </p:nvSpPr>
        <p:spPr>
          <a:xfrm>
            <a:off x="8884618" y="1842988"/>
            <a:ext cx="2468898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DON'T TAKE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884618" y="2298601"/>
            <a:ext cx="2468898" cy="761008"/>
          </a:xfrm>
          <a:prstGeom prst="rect">
            <a:avLst/>
          </a:prstGeom>
          <a:solidFill>
            <a:srgbClr val="FFE6C6"/>
          </a:solidFill>
          <a:ln/>
        </p:spPr>
      </p:sp>
      <p:sp>
        <p:nvSpPr>
          <p:cNvPr id="18" name="Text 16"/>
          <p:cNvSpPr/>
          <p:nvPr/>
        </p:nvSpPr>
        <p:spPr>
          <a:xfrm>
            <a:off x="9113213" y="2527439"/>
            <a:ext cx="2240303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TAKE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884618" y="3212009"/>
            <a:ext cx="2468898" cy="761008"/>
          </a:xfrm>
          <a:prstGeom prst="rect">
            <a:avLst/>
          </a:prstGeom>
          <a:solidFill>
            <a:srgbClr val="FFE6C6"/>
          </a:solidFill>
          <a:ln/>
        </p:spPr>
      </p:sp>
      <p:sp>
        <p:nvSpPr>
          <p:cNvPr id="20" name="Text 18"/>
          <p:cNvSpPr/>
          <p:nvPr/>
        </p:nvSpPr>
        <p:spPr>
          <a:xfrm>
            <a:off x="9113213" y="3440847"/>
            <a:ext cx="2240303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DON'T TAKE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577641" y="4389180"/>
            <a:ext cx="6614054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Many of these calculations repeat.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577641" y="4880074"/>
            <a:ext cx="6614054" cy="374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Brute Force </a:t>
            </a:r>
            <a:r>
              <a:rPr lang="en-US" sz="2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→ Dynamic Programming 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09585" y="4743549"/>
            <a:ext cx="3596590" cy="12700"/>
          </a:xfrm>
          <a:prstGeom prst="rect">
            <a:avLst/>
          </a:prstGeom>
          <a:solidFill>
            <a:srgbClr val="FFB45C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585" y="5504557"/>
            <a:ext cx="3596590" cy="12700"/>
          </a:xfrm>
          <a:prstGeom prst="rect">
            <a:avLst/>
          </a:prstGeom>
          <a:solidFill>
            <a:srgbClr val="FFB45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97853"/>
            <a:ext cx="5079873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The Dynamic Programming Idea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1182" y="1862336"/>
            <a:ext cx="507987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Solve smaller problems first → Store their answers → Reuse them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1182" y="3004511"/>
            <a:ext cx="5079873" cy="5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79" dirty="0">
                <a:solidFill>
                  <a:srgbClr val="8054D9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dp[i][w]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11182" y="3742035"/>
            <a:ext cx="5079873" cy="1706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450"/>
              </a:spcAft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Maximum value obtainable using the first i items with a capacity of w.</a:t>
            </a:r>
            <a:endParaRPr lang="en-US" sz="16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Instead of solving the same smaller problem repeatedly, we calculate it once and remember the answer.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640" y="834430"/>
            <a:ext cx="2387540" cy="2442170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7" name="Shape 5"/>
          <p:cNvSpPr/>
          <p:nvPr/>
        </p:nvSpPr>
        <p:spPr>
          <a:xfrm>
            <a:off x="7010225" y="1444030"/>
            <a:ext cx="452029" cy="366713"/>
          </a:xfrm>
          <a:prstGeom prst="roundRect">
            <a:avLst>
              <a:gd name="adj" fmla="val 49999"/>
            </a:avLst>
          </a:prstGeom>
          <a:solidFill>
            <a:srgbClr val="8054D9"/>
          </a:solidFill>
          <a:ln w="12700">
            <a:solidFill>
              <a:srgbClr val="C6BB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27697" y="1522611"/>
            <a:ext cx="82667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010225" y="1907580"/>
            <a:ext cx="116837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dp[0][0]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10225" y="2363430"/>
            <a:ext cx="1777956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0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092973" y="834430"/>
            <a:ext cx="2387540" cy="2442170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2557" y="1444030"/>
            <a:ext cx="491716" cy="366713"/>
          </a:xfrm>
          <a:prstGeom prst="roundRect">
            <a:avLst>
              <a:gd name="adj" fmla="val 49999"/>
            </a:avLst>
          </a:prstGeom>
          <a:solidFill>
            <a:srgbClr val="8054D9"/>
          </a:solidFill>
          <a:ln w="12700">
            <a:solidFill>
              <a:srgbClr val="C6BB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0029" y="1522611"/>
            <a:ext cx="86635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02557" y="1907580"/>
            <a:ext cx="116837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dp[1][2]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702557" y="2363430"/>
            <a:ext cx="1777956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12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400640" y="3581400"/>
            <a:ext cx="2387540" cy="2442170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7010225" y="4191000"/>
            <a:ext cx="491121" cy="366713"/>
          </a:xfrm>
          <a:prstGeom prst="roundRect">
            <a:avLst>
              <a:gd name="adj" fmla="val 49999"/>
            </a:avLst>
          </a:prstGeom>
          <a:solidFill>
            <a:srgbClr val="8054D9"/>
          </a:solidFill>
          <a:ln w="12700">
            <a:solidFill>
              <a:srgbClr val="C6BB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27697" y="4269581"/>
            <a:ext cx="86576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010225" y="4654550"/>
            <a:ext cx="116837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dp[2][3]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10225" y="5110401"/>
            <a:ext cx="1777956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22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092973" y="3581400"/>
            <a:ext cx="2387540" cy="244217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2" name="Shape 20"/>
          <p:cNvSpPr/>
          <p:nvPr/>
        </p:nvSpPr>
        <p:spPr>
          <a:xfrm>
            <a:off x="9702557" y="4191000"/>
            <a:ext cx="497371" cy="366713"/>
          </a:xfrm>
          <a:prstGeom prst="roundRect">
            <a:avLst>
              <a:gd name="adj" fmla="val 49999"/>
            </a:avLst>
          </a:prstGeom>
          <a:solidFill>
            <a:srgbClr val="8054D9"/>
          </a:solidFill>
          <a:ln w="12700">
            <a:solidFill>
              <a:srgbClr val="C6BB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20029" y="4269581"/>
            <a:ext cx="87201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702557" y="4654550"/>
            <a:ext cx="116837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dp[4][5]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702557" y="5110401"/>
            <a:ext cx="1777956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37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97853"/>
            <a:ext cx="4124817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Take or Don't Take?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1182" y="1873449"/>
            <a:ext cx="412481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DON'T TAKE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1182" y="2329299"/>
            <a:ext cx="4124817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Value: dp[i-1][w]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11182" y="3101181"/>
            <a:ext cx="412481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TAKE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1182" y="3557032"/>
            <a:ext cx="4124817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Value: value[i-1] + dp[i-1][w-weight[i-1]]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1182" y="3981490"/>
            <a:ext cx="4124817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If the item doesn't fit: dp[i][w] = dp[i-1][w]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293089" y="728663"/>
            <a:ext cx="6187325" cy="774700"/>
          </a:xfrm>
          <a:prstGeom prst="rect">
            <a:avLst/>
          </a:prstGeom>
          <a:solidFill>
            <a:srgbClr val="35233F"/>
          </a:solidFill>
          <a:ln/>
        </p:spPr>
      </p:sp>
      <p:sp>
        <p:nvSpPr>
          <p:cNvPr id="9" name="Text 7"/>
          <p:cNvSpPr/>
          <p:nvPr/>
        </p:nvSpPr>
        <p:spPr>
          <a:xfrm>
            <a:off x="5521683" y="968375"/>
            <a:ext cx="573013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Current Item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293089" y="1808063"/>
            <a:ext cx="2941266" cy="1227733"/>
          </a:xfrm>
          <a:prstGeom prst="rect">
            <a:avLst/>
          </a:prstGeom>
          <a:solidFill>
            <a:srgbClr val="ECE3FA"/>
          </a:solidFill>
          <a:ln/>
        </p:spPr>
      </p:sp>
      <p:sp>
        <p:nvSpPr>
          <p:cNvPr id="11" name="Text 9"/>
          <p:cNvSpPr/>
          <p:nvPr/>
        </p:nvSpPr>
        <p:spPr>
          <a:xfrm>
            <a:off x="5521683" y="2047776"/>
            <a:ext cx="2484078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TAKE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21683" y="2503626"/>
            <a:ext cx="2712672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Add its value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39147" y="1808063"/>
            <a:ext cx="2941266" cy="1227733"/>
          </a:xfrm>
          <a:prstGeom prst="rect">
            <a:avLst/>
          </a:prstGeom>
          <a:solidFill>
            <a:srgbClr val="FFE6C6"/>
          </a:solidFill>
          <a:ln/>
        </p:spPr>
      </p:sp>
      <p:sp>
        <p:nvSpPr>
          <p:cNvPr id="14" name="Text 12"/>
          <p:cNvSpPr/>
          <p:nvPr/>
        </p:nvSpPr>
        <p:spPr>
          <a:xfrm>
            <a:off x="8767742" y="2047776"/>
            <a:ext cx="2484078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DON'T TAKE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67742" y="2503626"/>
            <a:ext cx="2712672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Keep old value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293089" y="3340497"/>
            <a:ext cx="6187325" cy="774700"/>
          </a:xfrm>
          <a:prstGeom prst="rect">
            <a:avLst/>
          </a:prstGeom>
          <a:solidFill>
            <a:srgbClr val="35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5521683" y="3580209"/>
            <a:ext cx="573013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-120"/>
              </a:rPr>
              <a:t>Take MAX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182" y="4472384"/>
            <a:ext cx="11378915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dp[i][w] = max( </a:t>
            </a:r>
            <a:r>
              <a:rPr lang="en-US" sz="2000" dirty="0" err="1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dp</a:t>
            </a: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[</a:t>
            </a:r>
            <a:r>
              <a:rPr lang="en-US" sz="2000" dirty="0" err="1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</a:t>
            </a: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- 1][w], value[</a:t>
            </a:r>
            <a:r>
              <a:rPr lang="en-US" sz="2000" dirty="0" err="1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</a:t>
            </a: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- 1] + </a:t>
            </a:r>
            <a:r>
              <a:rPr lang="en-US" sz="2000" dirty="0" err="1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dp</a:t>
            </a: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[</a:t>
            </a:r>
            <a:r>
              <a:rPr lang="en-US" sz="2000" dirty="0" err="1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</a:t>
            </a: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- 1][w - weight[</a:t>
            </a:r>
            <a:r>
              <a:rPr lang="en-US" sz="2000" dirty="0" err="1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</a:t>
            </a: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- 1]] 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11182" y="2855119"/>
            <a:ext cx="4124817" cy="12700"/>
          </a:xfrm>
          <a:prstGeom prst="rect">
            <a:avLst/>
          </a:prstGeom>
          <a:solidFill>
            <a:srgbClr val="8054D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8652"/>
            <a:ext cx="472428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Building the DP Table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585" y="1913374"/>
            <a:ext cx="4724282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Each cell answers one smaller version of the original problem.</a:t>
            </a:r>
            <a:endParaRPr lang="en-US" sz="16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7828" y="609600"/>
          <a:ext cx="4724281" cy="3194962"/>
        </p:xfrm>
        <a:graphic>
          <a:graphicData uri="http://schemas.openxmlformats.org/drawingml/2006/table">
            <a:tbl>
              <a:tblPr/>
              <a:tblGrid>
                <a:gridCol w="116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94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4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77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Items / Capacity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3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4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5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22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22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22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3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22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30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32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2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4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15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25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30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37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54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6842"/>
            <a:ext cx="10972526" cy="329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kern="100" spc="-29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0/1 Knapsack — Dynamic Programming Algorithm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585" y="1145084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Algorithm Knapsack(W, wt[], val[], n)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585" y="1608634"/>
            <a:ext cx="7452134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Create dp[n+1][W+1]</a:t>
            </a:r>
            <a:endParaRPr lang="en-US" sz="1650" dirty="0"/>
          </a:p>
          <a:p>
            <a:pPr marL="335280" indent="-33528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Initialize: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09585" y="2390874"/>
            <a:ext cx="7452134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670560" lvl="1" indent="-335280" algn="l">
              <a:lnSpc>
                <a:spcPct val="121000"/>
              </a:lnSpc>
              <a:buSzPct val="100000"/>
              <a:buChar char="◦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dp[0][w] = 0</a:t>
            </a:r>
            <a:endParaRPr lang="en-US" sz="1650" dirty="0"/>
          </a:p>
          <a:p>
            <a:pPr marL="670560" lvl="1" indent="-335280" algn="l">
              <a:lnSpc>
                <a:spcPct val="121000"/>
              </a:lnSpc>
              <a:buSzPct val="100000"/>
              <a:buChar char="◦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for all capacities w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09585" y="3173353"/>
            <a:ext cx="7680728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For i = 1 to n: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9585" y="3597573"/>
            <a:ext cx="7452134" cy="209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670560" lvl="1" indent="-335280" algn="l">
              <a:lnSpc>
                <a:spcPct val="121000"/>
              </a:lnSpc>
              <a:buSzPct val="100000"/>
              <a:buChar char="◦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For w = 0 to W:</a:t>
            </a:r>
            <a:endParaRPr lang="en-US" sz="1650" dirty="0"/>
          </a:p>
          <a:p>
            <a:pPr marL="670560" lvl="1" indent="-335280" algn="l">
              <a:lnSpc>
                <a:spcPct val="121000"/>
              </a:lnSpc>
              <a:buSzPct val="100000"/>
              <a:buChar char="◦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If wt[i-1] &gt; w: dp[i][w] = dp[i-1][w]</a:t>
            </a:r>
            <a:endParaRPr lang="en-US" sz="1650" dirty="0"/>
          </a:p>
          <a:p>
            <a:pPr marL="670560" lvl="1" indent="-335280" algn="l">
              <a:lnSpc>
                <a:spcPct val="121000"/>
              </a:lnSpc>
              <a:buSzPct val="100000"/>
              <a:buChar char="◦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Otherwise:</a:t>
            </a:r>
            <a:endParaRPr lang="en-US" sz="1650" dirty="0"/>
          </a:p>
          <a:p>
            <a:pPr marL="1005840" lvl="2" indent="-335280" algn="l">
              <a:lnSpc>
                <a:spcPct val="121000"/>
              </a:lnSpc>
              <a:buSzPct val="100000"/>
              <a:buChar char="￭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take = val[i-1] + dp[i-1][w-wt[i-1]]</a:t>
            </a:r>
            <a:endParaRPr lang="en-US" sz="1650" dirty="0"/>
          </a:p>
          <a:p>
            <a:pPr marL="1005840" lvl="2" indent="-335280" algn="l">
              <a:lnSpc>
                <a:spcPct val="121000"/>
              </a:lnSpc>
              <a:buSzPct val="100000"/>
              <a:buChar char="￭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don'tTake = dp[i-1][w]</a:t>
            </a:r>
            <a:endParaRPr lang="en-US" sz="1650" dirty="0"/>
          </a:p>
          <a:p>
            <a:pPr marL="1005840" lvl="2" indent="-335280" algn="l">
              <a:lnSpc>
                <a:spcPct val="121000"/>
              </a:lnSpc>
              <a:buSzPct val="100000"/>
              <a:buChar char="￭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dp[i][w] = max(take, don'tTake)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585" y="5811183"/>
            <a:ext cx="7680728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Return dp[n][W]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68108" y="1608634"/>
            <a:ext cx="311400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Initialize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68108" y="2274094"/>
            <a:ext cx="311400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Check Item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68108" y="2939554"/>
            <a:ext cx="311400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Fits?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68108" y="3605014"/>
            <a:ext cx="311400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Take/Don't Take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68108" y="4270474"/>
            <a:ext cx="311400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Store Maximum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68108" y="4936034"/>
            <a:ext cx="311400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Repeat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68108" y="5601593"/>
            <a:ext cx="311400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Answer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83963" y="1608634"/>
            <a:ext cx="12700" cy="4506119"/>
          </a:xfrm>
          <a:prstGeom prst="rect">
            <a:avLst/>
          </a:prstGeom>
          <a:solidFill>
            <a:srgbClr val="FFB45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8652"/>
            <a:ext cx="472428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Solution + Complexity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585" y="1958665"/>
            <a:ext cx="4724282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97" dirty="0">
                <a:solidFill>
                  <a:srgbClr val="8054D9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37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09585" y="2813645"/>
            <a:ext cx="4724282" cy="794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450"/>
              </a:spcAft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Maximum Value = 37</a:t>
            </a:r>
            <a:endParaRPr lang="en-US" sz="16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Selected items: Item 1 + Item 2 + Item 4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09585" y="3795911"/>
            <a:ext cx="2209745" cy="1618258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4024749"/>
            <a:ext cx="1981150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Total Weight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38179" y="4448969"/>
            <a:ext cx="198115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2 + 1 + 2 = 5 kg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124122" y="3795911"/>
            <a:ext cx="2209745" cy="1618258"/>
          </a:xfrm>
          <a:prstGeom prst="rect">
            <a:avLst/>
          </a:prstGeom>
          <a:solidFill>
            <a:srgbClr val="FBEFE4"/>
          </a:solidFill>
          <a:ln/>
        </p:spPr>
      </p:sp>
      <p:sp>
        <p:nvSpPr>
          <p:cNvPr id="9" name="Text 7"/>
          <p:cNvSpPr/>
          <p:nvPr/>
        </p:nvSpPr>
        <p:spPr>
          <a:xfrm>
            <a:off x="3352716" y="4024749"/>
            <a:ext cx="1981150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Total Value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352716" y="4448969"/>
            <a:ext cx="175255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12 + 10 + 15 = 37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585" y="5601732"/>
            <a:ext cx="4724282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Dynamic Programming reduces the exponential search to O(nW).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248244" y="0"/>
            <a:ext cx="5943451" cy="6858000"/>
          </a:xfrm>
          <a:prstGeom prst="rect">
            <a:avLst/>
          </a:prstGeom>
          <a:solidFill>
            <a:srgbClr val="FBEFE4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3" y="0"/>
            <a:ext cx="5943451" cy="3962003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4149328"/>
          <a:ext cx="5943452" cy="2530808"/>
        </p:xfrm>
        <a:graphic>
          <a:graphicData uri="http://schemas.openxmlformats.org/drawingml/2006/table">
            <a:tbl>
              <a:tblPr/>
              <a:tblGrid>
                <a:gridCol w="249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Approach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Time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Space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Brute Force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O(2ⁿ)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O(n)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7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2D Dynamic Programming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O(nW)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O(nW)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1D Dynamic Programming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O(nW)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5233F"/>
                          </a:solidFill>
                          <a:latin typeface="Reddit Sans" pitchFamily="34" charset="0"/>
                          <a:ea typeface="Reddit Sans" pitchFamily="34" charset="-122"/>
                          <a:cs typeface="Reddit Sans" pitchFamily="34" charset="-120"/>
                        </a:rPr>
                        <a:t>O(W)</a:t>
                      </a:r>
                      <a:endParaRPr lang="en-US" sz="1650" dirty="0">
                        <a:latin typeface="Reddit Sans" charset="0"/>
                        <a:ea typeface="Reddit Sans" charset="0"/>
                        <a:cs typeface="Reddit Sans" charset="0"/>
                      </a:endParaRPr>
                    </a:p>
                  </a:txBody>
                  <a:tcPr marL="157159" marR="157159" marT="83818" marB="83818" anchor="ctr">
                    <a:lnL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921C59-B50C-9A3C-852F-BE9E6275C4F6}"/>
              </a:ext>
            </a:extLst>
          </p:cNvPr>
          <p:cNvSpPr txBox="1"/>
          <p:nvPr/>
        </p:nvSpPr>
        <p:spPr>
          <a:xfrm>
            <a:off x="847545" y="727167"/>
            <a:ext cx="8227444" cy="657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-120"/>
              </a:rPr>
              <a:t>What Should You Remember?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06BF3-7E63-7D3B-E73F-9F1B72496D0B}"/>
              </a:ext>
            </a:extLst>
          </p:cNvPr>
          <p:cNvSpPr txBox="1"/>
          <p:nvPr/>
        </p:nvSpPr>
        <p:spPr>
          <a:xfrm>
            <a:off x="847545" y="2315996"/>
            <a:ext cx="8615632" cy="1608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5280" indent="-33528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0/1 Knapsack — Each item can be selected at most once.</a:t>
            </a:r>
            <a:endParaRPr lang="en-US" sz="1650" dirty="0"/>
          </a:p>
          <a:p>
            <a:pPr marL="335280" indent="-33528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Goal — Maximize value without exceeding capacity.</a:t>
            </a:r>
            <a:endParaRPr lang="en-US" sz="1650" dirty="0"/>
          </a:p>
          <a:p>
            <a:pPr marL="335280" indent="-33528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DP State — </a:t>
            </a:r>
            <a:r>
              <a:rPr lang="en-US" sz="1650" dirty="0" err="1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dp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[</a:t>
            </a:r>
            <a:r>
              <a:rPr lang="en-US" sz="1650" dirty="0" err="1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][w] = best value using first </a:t>
            </a:r>
            <a:r>
              <a:rPr lang="en-US" sz="1650" dirty="0" err="1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 items with capacity w.</a:t>
            </a:r>
            <a:endParaRPr lang="en-US" sz="1650" dirty="0"/>
          </a:p>
          <a:p>
            <a:pPr marL="335280" indent="-33528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Decision — TAKE vs DON'T TAKE → Choose MAX</a:t>
            </a:r>
            <a:endParaRPr lang="en-US" sz="1650" dirty="0"/>
          </a:p>
          <a:p>
            <a:pPr marL="335280" indent="-33528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Complexity — O(</a:t>
            </a:r>
            <a:r>
              <a:rPr lang="en-US" sz="1650" dirty="0" err="1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nW</a:t>
            </a: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) time</a:t>
            </a:r>
            <a:endParaRPr lang="en-US" sz="16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A36E31-D9CD-77DB-57BB-328B4BC9055C}"/>
              </a:ext>
            </a:extLst>
          </p:cNvPr>
          <p:cNvSpPr txBox="1"/>
          <p:nvPr/>
        </p:nvSpPr>
        <p:spPr>
          <a:xfrm>
            <a:off x="907930" y="4734437"/>
            <a:ext cx="9581791" cy="812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The key to Knapsack is making the right choice at every item while remembering the best solutions to smaller problems.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84393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770</Words>
  <Application>Microsoft Office PowerPoint</Application>
  <PresentationFormat>Widescreen</PresentationFormat>
  <Paragraphs>187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Noto Color Emoji</vt:lpstr>
      <vt:lpstr>Reddit Sans SemiBold</vt:lpstr>
      <vt:lpstr>Parkinsans SemiBold</vt:lpstr>
      <vt:lpstr>Reddit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ANVITA KULKARNI</cp:lastModifiedBy>
  <cp:revision>3</cp:revision>
  <dcterms:created xsi:type="dcterms:W3CDTF">2026-10-12T08:16:39Z</dcterms:created>
  <dcterms:modified xsi:type="dcterms:W3CDTF">2026-10-14T12:07:32Z</dcterms:modified>
</cp:coreProperties>
</file>